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Roboto Bold" charset="1" panose="02000000000000000000"/>
      <p:regular r:id="rId15"/>
    </p:embeddedFon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0957" y="4506120"/>
            <a:ext cx="9846085" cy="288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MUEBLERÍA ALBARRÁN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59674" y="3528848"/>
            <a:ext cx="8968653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INTELIGENCIA DE NEGOCIOS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0587" y="7325118"/>
            <a:ext cx="8526827" cy="157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 b="true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Integrantes:</a:t>
            </a:r>
          </a:p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Sebastián Aguilera</a:t>
            </a:r>
          </a:p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Maximiliano Duarte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Camilo Perez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509504" y="2224789"/>
            <a:ext cx="4857773" cy="6528106"/>
            <a:chOff x="0" y="0"/>
            <a:chExt cx="3663950" cy="4923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51470" t="0" r="-5147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9411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1" y="3356854"/>
            <a:ext cx="4646033" cy="397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Estamos trabajando con la Mueblería Albarrán, la cual, debido a su rápido crecimiento, necesitan ayuda para organizar y procesar sus datos para poder tomar mejores decisiones.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862577" y="2215264"/>
            <a:ext cx="4857773" cy="6528106"/>
            <a:chOff x="0" y="0"/>
            <a:chExt cx="3663950" cy="49237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51470" t="0" r="-5147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40583" y="305907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40583" y="2909446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40583" y="5511136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970541" y="2006345"/>
            <a:ext cx="1487633" cy="6466659"/>
            <a:chOff x="0" y="0"/>
            <a:chExt cx="391805" cy="1703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1805" cy="1703153"/>
            </a:xfrm>
            <a:custGeom>
              <a:avLst/>
              <a:gdLst/>
              <a:ahLst/>
              <a:cxnLst/>
              <a:rect r="r" b="b" t="t" l="l"/>
              <a:pathLst>
                <a:path h="1703153" w="391805">
                  <a:moveTo>
                    <a:pt x="195902" y="0"/>
                  </a:moveTo>
                  <a:lnTo>
                    <a:pt x="195902" y="0"/>
                  </a:lnTo>
                  <a:cubicBezTo>
                    <a:pt x="247859" y="0"/>
                    <a:pt x="297687" y="20640"/>
                    <a:pt x="334426" y="57378"/>
                  </a:cubicBezTo>
                  <a:cubicBezTo>
                    <a:pt x="371165" y="94117"/>
                    <a:pt x="391805" y="143946"/>
                    <a:pt x="391805" y="195902"/>
                  </a:cubicBezTo>
                  <a:lnTo>
                    <a:pt x="391805" y="1507251"/>
                  </a:lnTo>
                  <a:cubicBezTo>
                    <a:pt x="391805" y="1559207"/>
                    <a:pt x="371165" y="1609036"/>
                    <a:pt x="334426" y="1645775"/>
                  </a:cubicBezTo>
                  <a:cubicBezTo>
                    <a:pt x="297687" y="1682513"/>
                    <a:pt x="247859" y="1703153"/>
                    <a:pt x="195902" y="1703153"/>
                  </a:cubicBezTo>
                  <a:lnTo>
                    <a:pt x="195902" y="1703153"/>
                  </a:lnTo>
                  <a:cubicBezTo>
                    <a:pt x="143946" y="1703153"/>
                    <a:pt x="94117" y="1682513"/>
                    <a:pt x="57378" y="1645775"/>
                  </a:cubicBezTo>
                  <a:cubicBezTo>
                    <a:pt x="20640" y="1609036"/>
                    <a:pt x="0" y="1559207"/>
                    <a:pt x="0" y="1507251"/>
                  </a:cubicBezTo>
                  <a:lnTo>
                    <a:pt x="0" y="195902"/>
                  </a:lnTo>
                  <a:cubicBezTo>
                    <a:pt x="0" y="143946"/>
                    <a:pt x="20640" y="94117"/>
                    <a:pt x="57378" y="57378"/>
                  </a:cubicBezTo>
                  <a:cubicBezTo>
                    <a:pt x="94117" y="20640"/>
                    <a:pt x="143946" y="0"/>
                    <a:pt x="19590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91805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755298" y="5796886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640583" y="5511136"/>
            <a:ext cx="1868266" cy="186826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40583" y="8112827"/>
            <a:ext cx="1868266" cy="186826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447306" y="1710401"/>
            <a:ext cx="6562235" cy="981406"/>
          </a:xfrm>
          <a:custGeom>
            <a:avLst/>
            <a:gdLst/>
            <a:ahLst/>
            <a:cxnLst/>
            <a:rect r="r" b="b" t="t" l="l"/>
            <a:pathLst>
              <a:path h="981406" w="6562235">
                <a:moveTo>
                  <a:pt x="0" y="0"/>
                </a:moveTo>
                <a:lnTo>
                  <a:pt x="6562235" y="0"/>
                </a:lnTo>
                <a:lnTo>
                  <a:pt x="6562235" y="981405"/>
                </a:lnTo>
                <a:lnTo>
                  <a:pt x="0" y="981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21089" y="4013204"/>
            <a:ext cx="8814669" cy="944429"/>
          </a:xfrm>
          <a:custGeom>
            <a:avLst/>
            <a:gdLst/>
            <a:ahLst/>
            <a:cxnLst/>
            <a:rect r="r" b="b" t="t" l="l"/>
            <a:pathLst>
              <a:path h="944429" w="8814669">
                <a:moveTo>
                  <a:pt x="0" y="0"/>
                </a:moveTo>
                <a:lnTo>
                  <a:pt x="8814669" y="0"/>
                </a:lnTo>
                <a:lnTo>
                  <a:pt x="8814669" y="944429"/>
                </a:lnTo>
                <a:lnTo>
                  <a:pt x="0" y="944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728500" y="6445269"/>
            <a:ext cx="7639702" cy="1258478"/>
          </a:xfrm>
          <a:custGeom>
            <a:avLst/>
            <a:gdLst/>
            <a:ahLst/>
            <a:cxnLst/>
            <a:rect r="r" b="b" t="t" l="l"/>
            <a:pathLst>
              <a:path h="1258478" w="7639702">
                <a:moveTo>
                  <a:pt x="0" y="0"/>
                </a:moveTo>
                <a:lnTo>
                  <a:pt x="7639702" y="0"/>
                </a:lnTo>
                <a:lnTo>
                  <a:pt x="7639702" y="1258478"/>
                </a:lnTo>
                <a:lnTo>
                  <a:pt x="0" y="1258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37866" y="9026782"/>
            <a:ext cx="9427444" cy="919751"/>
          </a:xfrm>
          <a:custGeom>
            <a:avLst/>
            <a:gdLst/>
            <a:ahLst/>
            <a:cxnLst/>
            <a:rect r="r" b="b" t="t" l="l"/>
            <a:pathLst>
              <a:path h="919751" w="9427444">
                <a:moveTo>
                  <a:pt x="0" y="0"/>
                </a:moveTo>
                <a:lnTo>
                  <a:pt x="9427445" y="0"/>
                </a:lnTo>
                <a:lnTo>
                  <a:pt x="9427445" y="919751"/>
                </a:lnTo>
                <a:lnTo>
                  <a:pt x="0" y="9197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508848" y="3307184"/>
            <a:ext cx="5508835" cy="128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71"/>
              </a:lnSpc>
            </a:pPr>
            <a:r>
              <a:rPr lang="en-US" sz="7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 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15920" y="4571391"/>
            <a:ext cx="4243380" cy="114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1"/>
              </a:lnSpc>
            </a:pPr>
            <a:r>
              <a:rPr lang="en-US" b="true" sz="6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55298" y="600627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55298" y="3194640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1391" y="695877"/>
            <a:ext cx="9833919" cy="79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Ticket promedio: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755298" y="588271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55298" y="8398577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1391" y="1091672"/>
            <a:ext cx="8747831" cy="72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Cuánt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gasta un cliente por compra.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661877" y="2896131"/>
            <a:ext cx="9833919" cy="39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Rendimiento por Vendedor: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1877" y="3291926"/>
            <a:ext cx="874783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Ingresos generados por las ventas de cada empleado.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31391" y="5453986"/>
            <a:ext cx="9833919" cy="39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 de Descuentos: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1391" y="5849782"/>
            <a:ext cx="874783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Cuánto margen se pierde por descuentos.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31391" y="8055677"/>
            <a:ext cx="9833919" cy="39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Crecimiento Mensual: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31391" y="8451472"/>
            <a:ext cx="87478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Evaluación del rendimiento de un mes respecto al mes anterior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67950" y="-518747"/>
            <a:ext cx="6294884" cy="11324494"/>
            <a:chOff x="0" y="0"/>
            <a:chExt cx="1657912" cy="29825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12" cy="2982583"/>
            </a:xfrm>
            <a:custGeom>
              <a:avLst/>
              <a:gdLst/>
              <a:ahLst/>
              <a:cxnLst/>
              <a:rect r="r" b="b" t="t" l="l"/>
              <a:pathLst>
                <a:path h="2982583" w="1657912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919859"/>
                  </a:lnTo>
                  <a:cubicBezTo>
                    <a:pt x="1657912" y="2936495"/>
                    <a:pt x="1651304" y="2952449"/>
                    <a:pt x="1639541" y="2964212"/>
                  </a:cubicBezTo>
                  <a:cubicBezTo>
                    <a:pt x="1627778" y="2975975"/>
                    <a:pt x="1611824" y="2982583"/>
                    <a:pt x="1595188" y="2982583"/>
                  </a:cubicBezTo>
                  <a:lnTo>
                    <a:pt x="62724" y="2982583"/>
                  </a:lnTo>
                  <a:cubicBezTo>
                    <a:pt x="46088" y="2982583"/>
                    <a:pt x="30134" y="2975975"/>
                    <a:pt x="18371" y="2964212"/>
                  </a:cubicBezTo>
                  <a:cubicBezTo>
                    <a:pt x="6608" y="2952449"/>
                    <a:pt x="0" y="2936495"/>
                    <a:pt x="0" y="2919859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57912" cy="303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KIMBALL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5634574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ANÁLISIS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983134"/>
            <a:ext cx="5634574" cy="245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6"/>
              </a:lnSpc>
              <a:spcBef>
                <a:spcPct val="0"/>
              </a:spcBef>
            </a:pP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objetivo es diseñar una propuesta de inteligencia de negocios que permita analizar los datos del modelo transaccional, facilitando la toma de decisiones estratégicas por parte de la gerencia.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972394"/>
            <a:ext cx="5634574" cy="16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6"/>
              </a:lnSpc>
              <a:spcBef>
                <a:spcPct val="0"/>
              </a:spcBef>
            </a:pPr>
            <a:r>
              <a:rPr lang="en-US" sz="23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metodología de diseño se basa en el enfoque Bottom-Up de Kimball, aplicando sus 4 pasos fundamentales.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82056" y="1360220"/>
            <a:ext cx="1461528" cy="146152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82056" y="3396945"/>
            <a:ext cx="1461528" cy="146152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2056" y="5432225"/>
            <a:ext cx="1461528" cy="146152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71797" y="1586172"/>
            <a:ext cx="1282047" cy="104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7"/>
              </a:lnSpc>
            </a:pPr>
            <a:r>
              <a:rPr lang="en-US" sz="61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71797" y="3615446"/>
            <a:ext cx="1282047" cy="104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7"/>
              </a:lnSpc>
            </a:pPr>
            <a:r>
              <a:rPr lang="en-US" b="true" sz="61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71797" y="5651161"/>
            <a:ext cx="1282047" cy="104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7"/>
              </a:lnSpc>
            </a:pPr>
            <a:r>
              <a:rPr lang="en-US" sz="61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82056" y="7458236"/>
            <a:ext cx="1461528" cy="146152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71797" y="7677172"/>
            <a:ext cx="1282047" cy="104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7"/>
              </a:lnSpc>
            </a:pPr>
            <a:r>
              <a:rPr lang="en-US" sz="614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34084" y="1135747"/>
            <a:ext cx="288548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Proceso de Negocio: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34084" y="1463054"/>
            <a:ext cx="4903111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proceso de negocio central son las ventas, que representan la actividad comercial principal.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34084" y="3157683"/>
            <a:ext cx="327933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Nivel de granularidad::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34084" y="3492328"/>
            <a:ext cx="4903111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granularidad será una fila por cada línea de producto en un documento de venta para tener máxima flexibilidad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34084" y="5282503"/>
            <a:ext cx="195357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Dimensiones: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34084" y="5609809"/>
            <a:ext cx="4903111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Dimensiones tiempo, producto, sucursal, empleado y cliente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34084" y="7141127"/>
            <a:ext cx="371010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Métricas y tabla de Hecho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34084" y="7468433"/>
            <a:ext cx="4903111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tabla de hecho será Ventas y sus métricas serán: cantidad, precio unitario y descuento, además de dimensiones degeneradas (documento)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7970" y="1071526"/>
            <a:ext cx="9618067" cy="8186774"/>
            <a:chOff x="0" y="0"/>
            <a:chExt cx="12824089" cy="1091569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990" t="0" r="1990" b="0"/>
            <a:stretch>
              <a:fillRect/>
            </a:stretch>
          </p:blipFill>
          <p:spPr>
            <a:xfrm flipH="false" flipV="false">
              <a:off x="0" y="0"/>
              <a:ext cx="12824089" cy="10915699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982450" y="1681184"/>
            <a:ext cx="5119357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8245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2450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modelo dimensional resultante es de tipo estrella, con la tabla hecho en el centro y 5 dimensiones rodeándola.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82450" y="5665079"/>
            <a:ext cx="5634574" cy="18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Script que construye el modelo utiliza un orden concreto, comienza con las dimensiones y termina con la tabla hechos para facilitar el uso de llaves foráneas.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3964" y="3108166"/>
            <a:ext cx="17600071" cy="4070667"/>
            <a:chOff x="0" y="0"/>
            <a:chExt cx="351424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4249" cy="812800"/>
            </a:xfrm>
            <a:custGeom>
              <a:avLst/>
              <a:gdLst/>
              <a:ahLst/>
              <a:cxnLst/>
              <a:rect r="r" b="b" t="t" l="l"/>
              <a:pathLst>
                <a:path h="812800" w="3514249">
                  <a:moveTo>
                    <a:pt x="10117" y="0"/>
                  </a:moveTo>
                  <a:lnTo>
                    <a:pt x="3504132" y="0"/>
                  </a:lnTo>
                  <a:cubicBezTo>
                    <a:pt x="3509719" y="0"/>
                    <a:pt x="3514249" y="4530"/>
                    <a:pt x="3514249" y="10117"/>
                  </a:cubicBezTo>
                  <a:lnTo>
                    <a:pt x="3514249" y="802683"/>
                  </a:lnTo>
                  <a:cubicBezTo>
                    <a:pt x="3514249" y="808270"/>
                    <a:pt x="3509719" y="812800"/>
                    <a:pt x="3504132" y="812800"/>
                  </a:cubicBezTo>
                  <a:lnTo>
                    <a:pt x="10117" y="812800"/>
                  </a:lnTo>
                  <a:cubicBezTo>
                    <a:pt x="4530" y="812800"/>
                    <a:pt x="0" y="808270"/>
                    <a:pt x="0" y="802683"/>
                  </a:cubicBezTo>
                  <a:lnTo>
                    <a:pt x="0" y="10117"/>
                  </a:lnTo>
                  <a:cubicBezTo>
                    <a:pt x="0" y="4530"/>
                    <a:pt x="4530" y="0"/>
                    <a:pt x="10117" y="0"/>
                  </a:cubicBezTo>
                  <a:close/>
                </a:path>
              </a:pathLst>
            </a:custGeom>
            <a:blipFill>
              <a:blip r:embed="rId3"/>
              <a:stretch>
                <a:fillRect l="-852" t="0" r="-852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676618" y="1791504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18918" y="1116794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VISUAL STUDIO SSIS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1310" y="7521404"/>
            <a:ext cx="4247608" cy="196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El primer bloque se encarga de borrar los datos existentes, de modo que el script siempre genera el mismo resultado.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31726" y="7521404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Luego se cargan las 5 dimensiones: Tiempo, Producto, Cliente, Sucursal y Vendedor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69082" y="7521404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Finalmente el script carga la tabla de hechos “H_Ventas”, la cual necesita que las dimensiones ya existan.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3373987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41666" y="923925"/>
            <a:ext cx="8404668" cy="197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TRANSFORMACIONES CLAVE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5551" y="3844484"/>
            <a:ext cx="1995085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39138" y="3844484"/>
            <a:ext cx="1995085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45253" y="3844484"/>
            <a:ext cx="1995085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6101" y="6545420"/>
            <a:ext cx="2596396" cy="352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Producto se une con categoría, sucursal con comuna, vendedor con cargo, y los nombres se concatenan con apellidos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39687" y="6545420"/>
            <a:ext cx="2596396" cy="313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Los valores nulos se rellenan con “No definido”, “Sin categoría” o “Sin descripción”. Las uniones son LEFT JOIN para no perder filas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45802" y="6545420"/>
            <a:ext cx="2596396" cy="235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“tiempo_id” se calcula como año multiplicado por 10000, más mes multiplicado por 100, más día.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51249" y="3844484"/>
            <a:ext cx="1995085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57364" y="3844484"/>
            <a:ext cx="1995085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51798" y="6545420"/>
            <a:ext cx="2596396" cy="235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 unen “ventas” y “detalle_ventas”, y se calculan “monto_bruto” y “monto_neto”.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57913" y="6545420"/>
            <a:ext cx="2596396" cy="274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 convierte con CAST a NVARCHAR para que el tipo de origen coincida con el del destino en SSIS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4896" y="5539580"/>
            <a:ext cx="259639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DIMENSIONES PLANAS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38483" y="5539580"/>
            <a:ext cx="25963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NULOS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47007" y="5539580"/>
            <a:ext cx="25963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TIEMPO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50593" y="5539580"/>
            <a:ext cx="25963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HECHOS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56708" y="5539580"/>
            <a:ext cx="25963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CAMPO “SEXO”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35000" y="4477111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04900" y="4477111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96797" y="4544508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DAHYHUmOzGM</dc:identifier>
  <dcterms:modified xsi:type="dcterms:W3CDTF">2011-08-01T06:04:30Z</dcterms:modified>
  <cp:revision>1</cp:revision>
  <dc:title>Inteligencia de negocios</dc:title>
</cp:coreProperties>
</file>